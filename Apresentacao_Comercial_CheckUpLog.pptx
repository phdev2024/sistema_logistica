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42416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CHECKUPLOG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00200"/>
            <a:ext cx="9875520" cy="12344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Mais controle sobre os custos logísticos.</a:t>
            </a:r>
          </a:p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Mais clareza para decidir.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96112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CDE6ED"/>
                </a:solidFill>
                <a:latin typeface="Aptos"/>
              </a:defRPr>
            </a:pPr>
            <a:r>
              <a:t>Gestão estratégica de custos para Centros de Distribuição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60520"/>
            <a:ext cx="1051560" cy="6400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9875520" cy="7772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Apresentação comercial | Diretores, CFOs e gestores de operações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72200"/>
            <a:ext cx="960120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CDE6ED"/>
                </a:solidFill>
                <a:latin typeface="Aptos"/>
              </a:defRPr>
            </a:pPr>
            <a:r>
              <a:t>Proposta de valor conceitual — funcionalidades sujeitas à validação do produto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345A"/>
                </a:solidFill>
                <a:latin typeface="Aptos"/>
              </a:defRPr>
            </a:pPr>
            <a:r>
              <a:t>O desafio: enxergar o custo real da operação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09728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6697C"/>
                </a:solidFill>
                <a:latin typeface="Aptos"/>
              </a:defRPr>
            </a:pPr>
            <a:r>
              <a:t>Quando os dados estão dispersos, decisões importantes dependem de estimativas.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0440" cy="18288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18288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56232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Custos fragmentados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3172968" cy="10789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3447"/>
                </a:solidFill>
                <a:latin typeface="Aptos"/>
              </a:defRPr>
            </a:pPr>
            <a:r>
              <a:t>Despesas, insumos, equipe, armazenagem e transporte podem ficar separados em diferentes fontes.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73152" cy="1828800"/>
          </a:xfrm>
          <a:prstGeom prst="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56232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Pouca visibilidade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172968" cy="10789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3447"/>
                </a:solidFill>
                <a:latin typeface="Aptos"/>
              </a:defRPr>
            </a:pPr>
            <a:r>
              <a:t>Sem critérios consistentes, é difícil comparar clientes, processos, períodos e produtividade.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520440" cy="18288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73152" cy="1828800"/>
          </a:xfrm>
          <a:prstGeom prst="rect">
            <a:avLst/>
          </a:prstGeom>
          <a:solidFill>
            <a:srgbClr val="17845D"/>
          </a:solidFill>
          <a:ln>
            <a:solidFill>
              <a:srgbClr val="17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56232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Ação sem mensuração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3172968" cy="10789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3447"/>
                </a:solidFill>
                <a:latin typeface="Aptos"/>
              </a:defRPr>
            </a:pPr>
            <a:r>
              <a:t>Iniciativas de redução perdem força quando não há linha de base nem acompanhamento financeiro.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332720" cy="8229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2345A"/>
                </a:solidFill>
                <a:latin typeface="Aptos"/>
              </a:defRPr>
            </a:pPr>
            <a:r>
              <a:t>A pergunta de gestão não é apenas “quanto gastamos?”, mas “onde, por que e com que resultado?”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CHECKUPLOG  |  Gestão estratégica de custos logísticos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345A"/>
                </a:solidFill>
                <a:latin typeface="Aptos"/>
              </a:defRPr>
            </a:pPr>
            <a:r>
              <a:t>A proposta do CheckUpLog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09728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6697C"/>
                </a:solidFill>
                <a:latin typeface="Aptos"/>
              </a:defRPr>
            </a:pPr>
            <a:r>
              <a:t>Organizar a leitura dos custos e apoiar decisões de eficiência e rentabilidade.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486400" cy="3474720"/>
          </a:xfrm>
          <a:prstGeom prst="rect">
            <a:avLst/>
          </a:prstGeom>
          <a:noFill/>
        </p:spPr>
        <p:txBody>
          <a:bodyPr wrap="none" lIns="73152" rIns="45720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3447"/>
                </a:solidFill>
                <a:latin typeface="Aptos"/>
              </a:defRPr>
            </a:pPr>
            <a:r>
              <a:t>•  Estruturar informações de custos e operação</a:t>
            </a:r>
          </a:p>
          <a:p>
            <a:pPr>
              <a:spcAft>
                <a:spcPts val="1200"/>
              </a:spcAft>
              <a:defRPr sz="1800">
                <a:solidFill>
                  <a:srgbClr val="233447"/>
                </a:solidFill>
                <a:latin typeface="Aptos"/>
              </a:defRPr>
            </a:pPr>
            <a:r>
              <a:t>•  Dar visibilidade aos principais direcionadores de despesa</a:t>
            </a:r>
          </a:p>
          <a:p>
            <a:pPr>
              <a:spcAft>
                <a:spcPts val="1200"/>
              </a:spcAft>
              <a:defRPr sz="1800">
                <a:solidFill>
                  <a:srgbClr val="233447"/>
                </a:solidFill>
                <a:latin typeface="Aptos"/>
              </a:defRPr>
            </a:pPr>
            <a:r>
              <a:t>•  Identificar desvios e oportunidades de melhoria</a:t>
            </a:r>
          </a:p>
          <a:p>
            <a:pPr>
              <a:spcAft>
                <a:spcPts val="1200"/>
              </a:spcAft>
              <a:defRPr sz="1800">
                <a:solidFill>
                  <a:srgbClr val="233447"/>
                </a:solidFill>
                <a:latin typeface="Aptos"/>
              </a:defRPr>
            </a:pPr>
            <a:r>
              <a:t>•  Priorizar ações com base em impacto e viabilidade</a:t>
            </a:r>
          </a:p>
          <a:p>
            <a:pPr>
              <a:spcAft>
                <a:spcPts val="1200"/>
              </a:spcAft>
              <a:defRPr sz="1800">
                <a:solidFill>
                  <a:srgbClr val="233447"/>
                </a:solidFill>
                <a:latin typeface="Aptos"/>
              </a:defRPr>
            </a:pPr>
            <a:r>
              <a:t>•  Acompanhar resultados e revisar decisões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297680" cy="3520440"/>
          </a:xfrm>
          <a:prstGeom prst="roundRect">
            <a:avLst/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78040" y="2011680"/>
            <a:ext cx="36576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2345A"/>
                </a:solidFill>
                <a:latin typeface="Aptos"/>
              </a:defRPr>
            </a:pPr>
            <a:r>
              <a:t>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606040"/>
            <a:ext cx="36576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87F8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971800"/>
            <a:ext cx="36576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2345A"/>
                </a:solidFill>
                <a:latin typeface="Aptos"/>
              </a:defRPr>
            </a:pPr>
            <a:r>
              <a:t>ANÁLISE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566160"/>
            <a:ext cx="36576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87F8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931920"/>
            <a:ext cx="36576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2345A"/>
                </a:solidFill>
                <a:latin typeface="Aptos"/>
              </a:defRPr>
            </a:pPr>
            <a:r>
              <a:t>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526280"/>
            <a:ext cx="36576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87F8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892040"/>
            <a:ext cx="365760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7845D"/>
                </a:solidFill>
                <a:latin typeface="Aptos"/>
              </a:defRPr>
            </a:pPr>
            <a:r>
              <a:t>RESULTADO MEDIDO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CHECKUPLOG  |  Gestão estratégica de custos logísticos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345A"/>
                </a:solidFill>
                <a:latin typeface="Aptos"/>
              </a:defRPr>
            </a:pPr>
            <a:r>
              <a:t>Como funciona o ciclo de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09728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6697C"/>
                </a:solidFill>
                <a:latin typeface="Aptos"/>
              </a:defRPr>
            </a:pPr>
            <a:r>
              <a:t>Fluxo conceitual para apoiar a gestão de custos de um CD.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755648" cy="2148840"/>
          </a:xfrm>
          <a:prstGeom prst="roundRect">
            <a:avLst/>
          </a:prstGeom>
          <a:solidFill>
            <a:srgbClr val="EBF5F8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2286000"/>
            <a:ext cx="393192" cy="393192"/>
          </a:xfrm>
          <a:prstGeom prst="round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393192" cy="329184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34640"/>
            <a:ext cx="1527048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Coleta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337560"/>
            <a:ext cx="1527048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233447"/>
                </a:solidFill>
                <a:latin typeface="Aptos"/>
              </a:defRPr>
            </a:pPr>
            <a:r>
              <a:t>Dados, estrutura e despesas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971800"/>
            <a:ext cx="21945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087F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2148840"/>
            <a:ext cx="1755648" cy="2148840"/>
          </a:xfrm>
          <a:prstGeom prst="roundRect">
            <a:avLst/>
          </a:prstGeom>
          <a:solidFill>
            <a:srgbClr val="F6F9FB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51760" y="2286000"/>
            <a:ext cx="393192" cy="393192"/>
          </a:xfrm>
          <a:prstGeom prst="round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2304288"/>
            <a:ext cx="393192" cy="329184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34640"/>
            <a:ext cx="1527048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Mapeamento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37560"/>
            <a:ext cx="1527048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233447"/>
                </a:solidFill>
                <a:latin typeface="Aptos"/>
              </a:defRPr>
            </a:pPr>
            <a:r>
              <a:t>Custos fixos e variáveis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971800"/>
            <a:ext cx="21945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087F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71416" y="2148840"/>
            <a:ext cx="1755648" cy="2148840"/>
          </a:xfrm>
          <a:prstGeom prst="roundRect">
            <a:avLst/>
          </a:prstGeom>
          <a:solidFill>
            <a:srgbClr val="EBF5F8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90288" y="2286000"/>
            <a:ext cx="393192" cy="393192"/>
          </a:xfrm>
          <a:prstGeom prst="round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304288"/>
            <a:ext cx="393192" cy="329184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834640"/>
            <a:ext cx="1527048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Análise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337560"/>
            <a:ext cx="1527048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233447"/>
                </a:solidFill>
                <a:latin typeface="Aptos"/>
              </a:defRPr>
            </a:pPr>
            <a:r>
              <a:t>Indicadores e comparativos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2971800"/>
            <a:ext cx="21945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087F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9944" y="2148840"/>
            <a:ext cx="1755648" cy="2148840"/>
          </a:xfrm>
          <a:prstGeom prst="roundRect">
            <a:avLst/>
          </a:prstGeom>
          <a:solidFill>
            <a:srgbClr val="F6F9FB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28816" y="2286000"/>
            <a:ext cx="393192" cy="393192"/>
          </a:xfrm>
          <a:prstGeom prst="round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8816" y="2304288"/>
            <a:ext cx="393192" cy="329184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2834640"/>
            <a:ext cx="1527048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Diagnóstico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337560"/>
            <a:ext cx="1527048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233447"/>
                </a:solidFill>
                <a:latin typeface="Aptos"/>
              </a:defRPr>
            </a:pPr>
            <a:r>
              <a:t>Desvios e oportunidades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7304" y="2971800"/>
            <a:ext cx="21945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087F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48472" y="2148840"/>
            <a:ext cx="1755648" cy="2148840"/>
          </a:xfrm>
          <a:prstGeom prst="roundRect">
            <a:avLst/>
          </a:prstGeom>
          <a:solidFill>
            <a:srgbClr val="EBF5F8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67344" y="2286000"/>
            <a:ext cx="393192" cy="393192"/>
          </a:xfrm>
          <a:prstGeom prst="round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67344" y="2304288"/>
            <a:ext cx="393192" cy="329184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2834640"/>
            <a:ext cx="1527048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Plano de 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3337560"/>
            <a:ext cx="1527048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233447"/>
                </a:solidFill>
                <a:latin typeface="Aptos"/>
              </a:defRPr>
            </a:pPr>
            <a:r>
              <a:t>Prioridades, donos e prazos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2971800"/>
            <a:ext cx="21945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087F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87000" y="2148840"/>
            <a:ext cx="1755648" cy="2148840"/>
          </a:xfrm>
          <a:prstGeom prst="roundRect">
            <a:avLst/>
          </a:prstGeom>
          <a:solidFill>
            <a:srgbClr val="F6F9FB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405872" y="2286000"/>
            <a:ext cx="393192" cy="393192"/>
          </a:xfrm>
          <a:prstGeom prst="round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05872" y="2304288"/>
            <a:ext cx="393192" cy="329184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2834640"/>
            <a:ext cx="1527048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Acompanhamento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5872" y="3337560"/>
            <a:ext cx="1527048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233447"/>
                </a:solidFill>
                <a:latin typeface="Aptos"/>
              </a:defRPr>
            </a:pPr>
            <a:r>
              <a:t>Economia e resultados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087F8C"/>
                </a:solidFill>
                <a:latin typeface="Aptos"/>
              </a:defRPr>
            </a:pPr>
            <a:r>
              <a:t>Ciclo contínuo: medir → agir → comparar → ajustar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56697C"/>
                </a:solidFill>
                <a:latin typeface="Aptos"/>
              </a:defRPr>
            </a:pPr>
            <a:r>
              <a:t>O fluxo descreve a proposta de uso; a automação de cada etapa deve ser confirmada na plataforma.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CHECKUPLOG  |  Gestão estratégica de custos logísticos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345A"/>
                </a:solidFill>
                <a:latin typeface="Aptos"/>
              </a:defRPr>
            </a:pPr>
            <a:r>
              <a:t>Indicadores que apoiam a decisão financeira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09728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6697C"/>
                </a:solidFill>
                <a:latin typeface="Aptos"/>
              </a:defRPr>
            </a:pPr>
            <a:r>
              <a:t>Exemplos de métricas recomendadas — dependem de dados e regras de cálculo consistentes.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74720" cy="150876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50876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12724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Custo por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127248" cy="7589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3447"/>
                </a:solidFill>
                <a:latin typeface="Aptos"/>
              </a:defRPr>
            </a:pPr>
            <a:r>
              <a:t>Custo total ÷ pedidos processados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91640"/>
            <a:ext cx="3474720" cy="150876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691640"/>
            <a:ext cx="73152" cy="150876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856232"/>
            <a:ext cx="312724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Custo por posição-palete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127248" cy="7589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3447"/>
                </a:solidFill>
                <a:latin typeface="Aptos"/>
              </a:defRPr>
            </a:pPr>
            <a:r>
              <a:t>Custo de armazenagem ÷ posições consideradas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91640"/>
            <a:ext cx="3474720" cy="150876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691640"/>
            <a:ext cx="73152" cy="150876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856232"/>
            <a:ext cx="312724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Custo por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31720"/>
            <a:ext cx="3127248" cy="7589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3447"/>
                </a:solidFill>
                <a:latin typeface="Aptos"/>
              </a:defRPr>
            </a:pPr>
            <a:r>
              <a:t>Custos atribuídos ÷ área considerada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474720" cy="150876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508760"/>
          </a:xfrm>
          <a:prstGeom prst="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312724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Custo de insumos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3127248" cy="7589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3447"/>
                </a:solidFill>
                <a:latin typeface="Aptos"/>
              </a:defRPr>
            </a:pPr>
            <a:r>
              <a:t>Consumo e gasto por pedido ou unidade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474720" cy="150876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508760"/>
          </a:xfrm>
          <a:prstGeom prst="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730752"/>
            <a:ext cx="312724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Produtividade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06240"/>
            <a:ext cx="3127248" cy="7589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3447"/>
                </a:solidFill>
                <a:latin typeface="Aptos"/>
              </a:defRPr>
            </a:pPr>
            <a:r>
              <a:t>Unidades processadas por hora ou colaborador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474720" cy="150876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508760"/>
          </a:xfrm>
          <a:prstGeom prst="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3730752"/>
            <a:ext cx="312724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Economia realizada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06240"/>
            <a:ext cx="3127248" cy="7589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3447"/>
                </a:solidFill>
                <a:latin typeface="Aptos"/>
              </a:defRPr>
            </a:pPr>
            <a:r>
              <a:t>Custo comparável antes versus depois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1060704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A96500"/>
                </a:solidFill>
                <a:latin typeface="Aptos"/>
              </a:defRPr>
            </a:pPr>
            <a:r>
              <a:t>Importante: separar economia estimada de economia efetivamente comprovada.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CHECKUPLOG  |  Gestão estratégica de custos logísticos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345A"/>
                </a:solidFill>
                <a:latin typeface="Aptos"/>
              </a:defRPr>
            </a:pPr>
            <a:r>
              <a:t>Onde buscar oportunidades de melhoria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09728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6697C"/>
                </a:solidFill>
                <a:latin typeface="Aptos"/>
              </a:defRPr>
            </a:pPr>
            <a:r>
              <a:t>Hipóteses para investigação durante o diagnóstico — não representam economias garantidas.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520440" cy="16002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73152" cy="16002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Insumos e embalagens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172968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3447"/>
                </a:solidFill>
                <a:latin typeface="Aptos"/>
              </a:defRPr>
            </a:pPr>
            <a:r>
              <a:t>Consumo por pedido, perdas, compras e padronização.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20440" cy="16002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73152" cy="1600200"/>
          </a:xfrm>
          <a:prstGeom prst="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10512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Mão de obra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172968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3447"/>
                </a:solidFill>
                <a:latin typeface="Aptos"/>
              </a:defRPr>
            </a:pPr>
            <a:r>
              <a:t>Produtividade por atividade, turno e volume processado.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45920"/>
            <a:ext cx="3520440" cy="16002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645920"/>
            <a:ext cx="73152" cy="1600200"/>
          </a:xfrm>
          <a:prstGeom prst="rect">
            <a:avLst/>
          </a:prstGeom>
          <a:solidFill>
            <a:srgbClr val="17845D"/>
          </a:solidFill>
          <a:ln>
            <a:solidFill>
              <a:srgbClr val="17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810512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Armazenagem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286000"/>
            <a:ext cx="3172968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3447"/>
                </a:solidFill>
                <a:latin typeface="Aptos"/>
              </a:defRPr>
            </a:pPr>
            <a:r>
              <a:t>Ocupação, área utilizada, posições e movimentações.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40"/>
            <a:ext cx="3520440" cy="16002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20440"/>
            <a:ext cx="73152" cy="1600200"/>
          </a:xfrm>
          <a:prstGeom prst="rect">
            <a:avLst/>
          </a:prstGeom>
          <a:solidFill>
            <a:srgbClr val="17845D"/>
          </a:solidFill>
          <a:ln>
            <a:solidFill>
              <a:srgbClr val="17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685032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Transporte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3172968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3447"/>
                </a:solidFill>
                <a:latin typeface="Aptos"/>
              </a:defRPr>
            </a:pPr>
            <a:r>
              <a:t>Frete, rotas, entregas e nível de serviço.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520440"/>
            <a:ext cx="3520440" cy="16002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520440"/>
            <a:ext cx="73152" cy="16002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3685032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Processos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3172968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3447"/>
                </a:solidFill>
                <a:latin typeface="Aptos"/>
              </a:defRPr>
            </a:pPr>
            <a:r>
              <a:t>Retrabalho, etapas manuais e tempos de ciclo.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520440"/>
            <a:ext cx="3520440" cy="16002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01000" y="3520440"/>
            <a:ext cx="73152" cy="1600200"/>
          </a:xfrm>
          <a:prstGeom prst="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79" y="3685032"/>
            <a:ext cx="317296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Contratos e clientes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160520"/>
            <a:ext cx="3172968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3447"/>
                </a:solidFill>
                <a:latin typeface="Aptos"/>
              </a:defRPr>
            </a:pPr>
            <a:r>
              <a:t>Margem por serviço, perfil de demanda e custo de servir.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CHECKUPLOG  |  Gestão estratégica de custos logísticos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345A"/>
                </a:solidFill>
                <a:latin typeface="Aptos"/>
              </a:defRPr>
            </a:pPr>
            <a:r>
              <a:t>Como comprovar a economia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09728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6697C"/>
                </a:solidFill>
                <a:latin typeface="Aptos"/>
              </a:defRPr>
            </a:pPr>
            <a:r>
              <a:t>Uma metodologia simples protege a credibilidade do diagnóstico.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02920" cy="502920"/>
          </a:xfrm>
          <a:prstGeom prst="round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28216"/>
            <a:ext cx="502920" cy="41148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82496"/>
            <a:ext cx="2286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1. Linha de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682496"/>
            <a:ext cx="731520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Definir período, volume, mix, nível de serviço e custos incluídos.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502920" cy="502920"/>
          </a:xfrm>
          <a:prstGeom prst="round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779776"/>
            <a:ext cx="502920" cy="41148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34056"/>
            <a:ext cx="2286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2. Oportunidade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34056"/>
            <a:ext cx="731520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Descrever causa, ação sugerida, responsável e economia estimada.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31336"/>
            <a:ext cx="502920" cy="41148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85616"/>
            <a:ext cx="2286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3. Implementação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85616"/>
            <a:ext cx="731520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Registrar data, custo da mudança e eventuais impactos operacionais.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46320"/>
            <a:ext cx="502920" cy="502920"/>
          </a:xfrm>
          <a:prstGeom prst="round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882896"/>
            <a:ext cx="502920" cy="41148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37176"/>
            <a:ext cx="2286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4. Validação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837176"/>
            <a:ext cx="731520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Comparar custos equivalentes, ajustando mudanças de volume e perfil.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897880"/>
            <a:ext cx="10241280" cy="384048"/>
          </a:xfrm>
          <a:prstGeom prst="roundRect">
            <a:avLst/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916168"/>
            <a:ext cx="9966960" cy="3017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Resultado confiável = custo comparável + método consistente + evidência.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CHECKUPLOG  |  Gestão estratégica de custos logísticos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345A"/>
                </a:solidFill>
                <a:latin typeface="Aptos"/>
              </a:defRPr>
            </a:pPr>
            <a:r>
              <a:t>O que diferencia 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09728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6697C"/>
                </a:solidFill>
                <a:latin typeface="Aptos"/>
              </a:defRPr>
            </a:pPr>
            <a:r>
              <a:t>Posicionamento comercial sugerido para uma conversa executiva.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22860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3152" cy="2286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312724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Visão financeira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39"/>
            <a:ext cx="3127248" cy="15361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3447"/>
                </a:solidFill>
                <a:latin typeface="Aptos"/>
              </a:defRPr>
            </a:pPr>
            <a:r>
              <a:t>Conectar operação, custos e rentabilidade em uma linguagem que a diretoria consiga usar.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74720" cy="22860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73152" cy="2286000"/>
          </a:xfrm>
          <a:prstGeom prst="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01952"/>
            <a:ext cx="312724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Prioridade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39"/>
            <a:ext cx="3127248" cy="15361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3447"/>
                </a:solidFill>
                <a:latin typeface="Aptos"/>
              </a:defRPr>
            </a:pPr>
            <a:r>
              <a:t>Direcionar a atenção para oportunidades com impacto, viabilidade e responsáveis claros.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74720" cy="22860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73152" cy="2286000"/>
          </a:xfrm>
          <a:prstGeom prst="rect">
            <a:avLst/>
          </a:prstGeom>
          <a:solidFill>
            <a:srgbClr val="17845D"/>
          </a:solidFill>
          <a:ln>
            <a:solidFill>
              <a:srgbClr val="17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901952"/>
            <a:ext cx="312724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Melhoria contínua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39"/>
            <a:ext cx="3127248" cy="15361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3447"/>
                </a:solidFill>
                <a:latin typeface="Aptos"/>
              </a:defRPr>
            </a:pPr>
            <a:r>
              <a:t>Acompanhar ações e verificar se o resultado permanece ao longo do tempo.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9966960" cy="7315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2345A"/>
                </a:solidFill>
                <a:latin typeface="Aptos"/>
              </a:defRPr>
            </a:pPr>
            <a:r>
              <a:t>Posicionamento recomendado: menos relatórios sem ação; mais decisões sustentadas por dados.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CHECKUPLOG  |  Gestão estratégica de custos logísticos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345A"/>
                </a:solidFill>
                <a:latin typeface="Aptos"/>
              </a:defRPr>
            </a:pPr>
            <a:r>
              <a:t>Transparência sobre o estágio do 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09728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6697C"/>
                </a:solidFill>
                <a:latin typeface="Aptos"/>
              </a:defRPr>
            </a:pPr>
            <a:r>
              <a:t>Este material separa a proposta de valor das funcionalidades que ainda precisam ser demonstradas.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22860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2286000"/>
          </a:xfrm>
          <a:prstGeom prst="rect">
            <a:avLst/>
          </a:prstGeom>
          <a:solidFill>
            <a:srgbClr val="17845D"/>
          </a:solidFill>
          <a:ln>
            <a:solidFill>
              <a:srgbClr val="17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81888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O que sabemos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18888" cy="15361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• Existe um endereço de homologação do CheckUpLog.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• O objetivo comercial é custos e redução de despesas.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• A plataforma não foi inspecionada com sucesso nesta avaliação.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66360" cy="2286000"/>
          </a:xfrm>
          <a:prstGeom prst="roundRect">
            <a:avLst/>
          </a:prstGeom>
          <a:solidFill>
            <a:srgbClr val="F6F9FB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73152" cy="2286000"/>
          </a:xfrm>
          <a:prstGeom prst="rect">
            <a:avLst/>
          </a:prstGeom>
          <a:solidFill>
            <a:srgbClr val="A96500"/>
          </a:solidFill>
          <a:ln>
            <a:solidFill>
              <a:srgbClr val="A9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4818888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O que precisa ser validado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818888" cy="15361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• Telas e módulos existentes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• Importação e integrações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• Fórmulas e indicadores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• Relatórios, permissões e segurança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33447"/>
                </a:solidFill>
                <a:latin typeface="Aptos"/>
              </a:defRPr>
            </a:pPr>
            <a:r>
              <a:t>• Recursos automáticos versus processos manuais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480560"/>
            <a:ext cx="10469880" cy="777240"/>
          </a:xfrm>
          <a:prstGeom prst="roundRect">
            <a:avLst/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645152"/>
            <a:ext cx="1001268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Não apresentar recursos como disponíveis até que sejam verificados na homologação.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CHECKUPLOG  |  Gestão estratégica de custos logísticos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345A"/>
                </a:solidFill>
                <a:latin typeface="Aptos"/>
              </a:defRPr>
            </a:pPr>
            <a:r>
              <a:t>Próximos passos para uma demonstração comercial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09728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6697C"/>
                </a:solidFill>
                <a:latin typeface="Aptos"/>
              </a:defRPr>
            </a:pPr>
            <a:r>
              <a:t>Uma entrada gradual reduz risco e deixa claro o valor para o cliente.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6583680" cy="3931920"/>
          </a:xfrm>
          <a:prstGeom prst="rect">
            <a:avLst/>
          </a:prstGeom>
          <a:noFill/>
        </p:spPr>
        <p:txBody>
          <a:bodyPr wrap="none" lIns="73152" rIns="45720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447"/>
                </a:solidFill>
                <a:latin typeface="Aptos"/>
              </a:defRPr>
            </a:pPr>
            <a:r>
              <a:t>•  1. Validar acesso e estabilidade da homologação</a:t>
            </a:r>
          </a:p>
          <a:p>
            <a:pPr>
              <a:spcAft>
                <a:spcPts val="1200"/>
              </a:spcAft>
              <a:defRPr sz="1600">
                <a:solidFill>
                  <a:srgbClr val="233447"/>
                </a:solidFill>
                <a:latin typeface="Aptos"/>
              </a:defRPr>
            </a:pPr>
            <a:r>
              <a:t>•  2. Demonstrar uma jornada real com dados de exemplo</a:t>
            </a:r>
          </a:p>
          <a:p>
            <a:pPr>
              <a:spcAft>
                <a:spcPts val="1200"/>
              </a:spcAft>
              <a:defRPr sz="1600">
                <a:solidFill>
                  <a:srgbClr val="233447"/>
                </a:solidFill>
                <a:latin typeface="Aptos"/>
              </a:defRPr>
            </a:pPr>
            <a:r>
              <a:t>•  3. Confirmar indicadores, fórmulas e relatórios disponíveis</a:t>
            </a:r>
          </a:p>
          <a:p>
            <a:pPr>
              <a:spcAft>
                <a:spcPts val="1200"/>
              </a:spcAft>
              <a:defRPr sz="1600">
                <a:solidFill>
                  <a:srgbClr val="233447"/>
                </a:solidFill>
                <a:latin typeface="Aptos"/>
              </a:defRPr>
            </a:pPr>
            <a:r>
              <a:t>•  4. Selecionar um processo ou centro de custo para piloto</a:t>
            </a:r>
          </a:p>
          <a:p>
            <a:pPr>
              <a:spcAft>
                <a:spcPts val="1200"/>
              </a:spcAft>
              <a:defRPr sz="1600">
                <a:solidFill>
                  <a:srgbClr val="233447"/>
                </a:solidFill>
                <a:latin typeface="Aptos"/>
              </a:defRPr>
            </a:pPr>
            <a:r>
              <a:t>•  5. Definir linha de base, metas e critérios de sucesso</a:t>
            </a:r>
          </a:p>
          <a:p>
            <a:pPr>
              <a:spcAft>
                <a:spcPts val="1200"/>
              </a:spcAft>
              <a:defRPr sz="1600">
                <a:solidFill>
                  <a:srgbClr val="233447"/>
                </a:solidFill>
                <a:latin typeface="Aptos"/>
              </a:defRPr>
            </a:pPr>
            <a:r>
              <a:t>•  6. Apresentar resultados documentados e plano de expansão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383280" cy="3108960"/>
          </a:xfrm>
          <a:prstGeom prst="roundRect">
            <a:avLst/>
          </a:prstGeom>
          <a:solidFill>
            <a:srgbClr val="12345A"/>
          </a:solidFill>
          <a:ln>
            <a:solidFill>
              <a:srgbClr val="12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83879" y="2240280"/>
            <a:ext cx="274320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BEE6EB"/>
                </a:solidFill>
                <a:latin typeface="Aptos"/>
              </a:defRPr>
            </a:pPr>
            <a:r>
              <a:t>PRÓXIMA CONVERSA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788920"/>
            <a:ext cx="2743200" cy="12344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Vamos identificar onde a sua operação pode ganhar eficiência e como medir o resultado.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343400"/>
            <a:ext cx="27432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BEE6EB"/>
                </a:solidFill>
                <a:latin typeface="Aptos"/>
              </a:defRPr>
            </a:pPr>
            <a:r>
              <a:t>Diagnóstico • Piloto • Evidência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CHECKUPLOG  |  Gestão estratégica de custos logísticos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6697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424160" cy="5486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CHECKUPLOG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12801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Decisões melhores começam</a:t>
            </a:r>
          </a:p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com custos compreendidos.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657600"/>
            <a:ext cx="9052560" cy="8229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CDE6ED"/>
                </a:solidFill>
                <a:latin typeface="Aptos"/>
              </a:defRPr>
            </a:pPr>
            <a:r>
              <a:t>Gestão estratégica de custos logísticos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CDE6ED"/>
                </a:solidFill>
                <a:latin typeface="Aptos"/>
              </a:defRPr>
            </a:pPr>
            <a:r>
              <a:t>Diagnóstico • Priorização • Acompanhamento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846320"/>
            <a:ext cx="1005840" cy="6400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5257800"/>
            <a:ext cx="9875520" cy="5486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DE6ED"/>
                </a:solidFill>
                <a:latin typeface="Aptos"/>
              </a:defRPr>
            </a:pPr>
            <a:r>
              <a:t>CheckUpLog — proposta comercial conceitual, sujeita à validação 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217920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Próximo passo: agendar uma demonstração da plataforma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Usuário Convidado</cp:lastModifiedBy>
  <cp:revision>2</cp:revision>
  <dcterms:created xsi:type="dcterms:W3CDTF">2013-01-27T09:14:16Z</dcterms:created>
  <dcterms:modified xsi:type="dcterms:W3CDTF">2026-10-17T23:32:26Z</dcterms:modified>
  <cp:category/>
</cp:coreProperties>
</file>